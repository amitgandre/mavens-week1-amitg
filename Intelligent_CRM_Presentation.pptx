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0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BDBA-3BF4-3669-A7D6-3CFB6224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202F2-13CB-2DB4-6FB5-0F5D5591E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AF977-7AF6-EF96-7276-D7175F07F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1D268-4682-25FA-CBD7-0EB1862401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6670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FFB1-4F07-B016-19D2-0B388279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BEBDD-0F92-DDDE-1977-FB45DFE4E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4482-D71B-1474-1BFF-5783645B8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D7873-67D3-DB73-06BC-65ED65EA530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3575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EC6AD5-6F0E-434F-8462-113F1D81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0F1EE40-853D-450D-A7B7-2BFAB49CD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423C237-3325-4325-9373-31B319E1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57B151-E255-439F-A168-4F64E6DD6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0B9DFDA-FCB5-4349-85EE-4FBAF155D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B6EDB2B-02A9-497B-8A22-C092124F6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5D9F33E-2D90-435C-B714-D51AB78C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C1760E2-C85C-4820-BEC3-366316E816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7D9779E-0D11-4DE0-98AA-4F846BD4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55DD6C3-6A4E-4521-94DB-A783B3540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39EB688-CEC4-49AB-A28A-A800C13293C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Intelligent CRM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626BCF-C22B-4D8B-AC30-7882942E896C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54484-FDD6-408D-B479-8E47192588BF}"/>
              </a:ext>
            </a:extLst>
          </p:cNvPr>
          <p:cNvSpPr>
            <a:spLocks noGrp="1"/>
          </p:cNvSpPr>
          <p:nvPr/>
        </p:nvSpPr>
        <p:spPr>
          <a:xfrm>
            <a:off x="457200" y="2928938"/>
            <a:ext cx="10810875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Create a centralized CRM that gathers sales intelligence and visualizes the pipeline to support informed decisions.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702F1-280C-47DA-8E13-6F3F11021F16}"/>
              </a:ext>
            </a:extLst>
          </p:cNvPr>
          <p:cNvSpPr>
            <a:spLocks noGrp="1"/>
          </p:cNvSpPr>
          <p:nvPr/>
        </p:nvSpPr>
        <p:spPr>
          <a:xfrm>
            <a:off x="457200" y="4024313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Three roles supporting one shared view of sales 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37A88-1A5C-4200-9688-AFA736DA31AE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Company administrator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A7E82-9777-4827-B348-065E90548202}"/>
              </a:ext>
            </a:extLst>
          </p:cNvPr>
          <p:cNvSpPr>
            <a:spLocks noGrp="1"/>
          </p:cNvSpPr>
          <p:nvPr/>
        </p:nvSpPr>
        <p:spPr>
          <a:xfrm>
            <a:off x="457200" y="5267325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Manage users, assign roles, and administer passwords.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5787A-E86A-410C-B86F-AB2D237C546F}"/>
              </a:ext>
            </a:extLst>
          </p:cNvPr>
          <p:cNvSpPr>
            <a:spLocks noGrp="1"/>
          </p:cNvSpPr>
          <p:nvPr/>
        </p:nvSpPr>
        <p:spPr>
          <a:xfrm>
            <a:off x="4229100" y="471487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Salesperson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5ACAB1-56CD-4000-9208-FBC799144761}"/>
              </a:ext>
            </a:extLst>
          </p:cNvPr>
          <p:cNvSpPr>
            <a:spLocks noGrp="1"/>
          </p:cNvSpPr>
          <p:nvPr/>
        </p:nvSpPr>
        <p:spPr>
          <a:xfrm>
            <a:off x="4229100" y="5267325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Upload pipeline data and manage opportunities.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3BEB97-0B74-4AD4-84F2-9384667E4604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Executive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822EC4-4512-44E1-BD8D-63A29A037458}"/>
              </a:ext>
            </a:extLst>
          </p:cNvPr>
          <p:cNvSpPr>
            <a:spLocks noGrp="1"/>
          </p:cNvSpPr>
          <p:nvPr/>
        </p:nvSpPr>
        <p:spPr>
          <a:xfrm>
            <a:off x="8058150" y="5267325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View pipeline and performance through dashboards.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41010C-CD91-E094-D2E4-D7819A5F690E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59529F-BCB0-9FAA-B0E1-B8F07DF90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950" y="141790"/>
            <a:ext cx="4995793" cy="281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1E171-CB0A-4510-92E5-2564F722B42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B46"/>
                </a:solidFill>
                <a:latin typeface="Arial"/>
                <a:ea typeface="Arial"/>
                <a:cs typeface="Arial"/>
              </a:rPr>
              <a:t>Company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EBCADA-0736-42AD-A9E1-20B28054B20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Account Administration</a:t>
            </a:r>
            <a:endParaRPr sz="21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CE0B2-8E95-4919-8EE7-9EEA715743A0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E48FC1-E3FE-4FAA-89AB-36600FCCAE07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Create account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CCA08-E578-4514-99B4-A776DD9CEFFF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7B281-A6CC-46CA-9B5A-AB737B6F220B}"/>
              </a:ext>
            </a:extLst>
          </p:cNvPr>
          <p:cNvSpPr>
            <a:spLocks noGrp="1"/>
          </p:cNvSpPr>
          <p:nvPr/>
        </p:nvSpPr>
        <p:spPr>
          <a:xfrm>
            <a:off x="1524000" y="286702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Reset password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0CDC1-AF9D-4F04-8714-6D5A62B0D3FC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EBB28-76AF-487F-8955-85F647945151}"/>
              </a:ext>
            </a:extLst>
          </p:cNvPr>
          <p:cNvSpPr>
            <a:spLocks noGrp="1"/>
          </p:cNvSpPr>
          <p:nvPr/>
        </p:nvSpPr>
        <p:spPr>
          <a:xfrm>
            <a:off x="1524000" y="35052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Send username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AD9D8-47AB-498F-BFF7-ACEBA46B20E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B59F6C-2749-4ACE-9729-A3B571C9D3A8}"/>
              </a:ext>
            </a:extLst>
          </p:cNvPr>
          <p:cNvSpPr>
            <a:spLocks noGrp="1"/>
          </p:cNvSpPr>
          <p:nvPr/>
        </p:nvSpPr>
        <p:spPr>
          <a:xfrm>
            <a:off x="1524000" y="414337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Change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3F944-6769-4860-846D-626C608B7D35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9FFC52-5CF9-48F3-8EC0-D1B8457B9D2E}"/>
              </a:ext>
            </a:extLst>
          </p:cNvPr>
          <p:cNvSpPr>
            <a:spLocks noGrp="1"/>
          </p:cNvSpPr>
          <p:nvPr/>
        </p:nvSpPr>
        <p:spPr>
          <a:xfrm>
            <a:off x="1524000" y="478155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Disable 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0FF9D-088D-4F2A-A921-683CB56F2D1E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313DC2-923D-4093-9407-D73CF3C73D19}"/>
              </a:ext>
            </a:extLst>
          </p:cNvPr>
          <p:cNvSpPr>
            <a:spLocks noGrp="1"/>
          </p:cNvSpPr>
          <p:nvPr/>
        </p:nvSpPr>
        <p:spPr>
          <a:xfrm>
            <a:off x="1524000" y="541972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Delete user / archive data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8B904C-32AF-8F94-6F22-470574B15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00" y="1724026"/>
            <a:ext cx="6537600" cy="36576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EE097A4-6DBD-77CB-E531-C6FA9FBDC149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68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928B87-DAC8-4625-B4E9-BBBFD62D27B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B46"/>
                </a:solidFill>
                <a:latin typeface="Arial"/>
                <a:ea typeface="Arial"/>
                <a:cs typeface="Arial"/>
              </a:rPr>
              <a:t>Salesperson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DB5C8-FE86-4537-9117-5DBCECF420E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Pipeline management and visualization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778D9-804C-4CA9-A0F3-CC382BEF8121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948004-006C-458D-BF4E-F0B0BC8D1050}"/>
              </a:ext>
            </a:extLst>
          </p:cNvPr>
          <p:cNvSpPr>
            <a:spLocks noGrp="1"/>
          </p:cNvSpPr>
          <p:nvPr/>
        </p:nvSpPr>
        <p:spPr>
          <a:xfrm>
            <a:off x="1524000" y="23241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View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13536-1C6E-4BB4-A276-DAD9CB44AE9B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81F176-014E-4DA1-8E6C-DC3EAE18F7F3}"/>
              </a:ext>
            </a:extLst>
          </p:cNvPr>
          <p:cNvSpPr>
            <a:spLocks noGrp="1"/>
          </p:cNvSpPr>
          <p:nvPr/>
        </p:nvSpPr>
        <p:spPr>
          <a:xfrm>
            <a:off x="1524000" y="305752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Update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CC67E-5892-41C4-8C09-B89FC07D136F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D2E7F-B56B-4B24-95D6-FF778B7E1307}"/>
              </a:ext>
            </a:extLst>
          </p:cNvPr>
          <p:cNvSpPr>
            <a:spLocks noGrp="1"/>
          </p:cNvSpPr>
          <p:nvPr/>
        </p:nvSpPr>
        <p:spPr>
          <a:xfrm>
            <a:off x="1524000" y="379095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Download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ABDAF4-5167-4B32-BA71-7B639895A11E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26988-AE30-4B53-B8FC-7AEAFD970368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Reload workbook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81DFE-FE60-4139-A05D-571D73CDBE02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F300D-D5BD-4BA3-AC8E-733820913301}"/>
              </a:ext>
            </a:extLst>
          </p:cNvPr>
          <p:cNvSpPr>
            <a:spLocks noGrp="1"/>
          </p:cNvSpPr>
          <p:nvPr/>
        </p:nvSpPr>
        <p:spPr>
          <a:xfrm>
            <a:off x="1524000" y="52578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46"/>
                </a:solidFill>
                <a:latin typeface="Arial"/>
                <a:ea typeface="Arial"/>
                <a:cs typeface="Arial"/>
              </a:rPr>
              <a:t>Visualization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5D059E-D33C-827F-985F-3593532B4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911" y="1845956"/>
            <a:ext cx="7772400" cy="43281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0C1A53-C14B-9BE7-6ADA-92169A08CBBB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01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3826-50FB-97FE-E50C-2002DBC4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3C65D9-B588-A944-17DA-FE33713F9FD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Executive Dashboard</a:t>
            </a:r>
            <a:endParaRPr sz="3600" b="1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0E930-4162-D37C-1C1B-2B858CB4259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Company Financials</a:t>
            </a:r>
            <a:endParaRPr sz="21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8D3DB0-F711-1E87-F3C2-FB3F5283BDC2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1D3FC-3E80-20A7-3B6B-7C42C136BBD4}"/>
              </a:ext>
            </a:extLst>
          </p:cNvPr>
          <p:cNvSpPr>
            <a:spLocks noGrp="1"/>
          </p:cNvSpPr>
          <p:nvPr/>
        </p:nvSpPr>
        <p:spPr>
          <a:xfrm>
            <a:off x="1524000" y="23241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Overall summary</a:t>
            </a:r>
            <a:endParaRPr sz="2250" b="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B3F7E-A017-0E19-A810-5468DCDF37E9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E6D47-3AED-9B7D-B2AE-B439960D4AB9}"/>
              </a:ext>
            </a:extLst>
          </p:cNvPr>
          <p:cNvSpPr>
            <a:spLocks noGrp="1"/>
          </p:cNvSpPr>
          <p:nvPr/>
        </p:nvSpPr>
        <p:spPr>
          <a:xfrm>
            <a:off x="1524000" y="3057525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Visualization by:</a:t>
            </a:r>
          </a:p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225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Sales stage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Salesperson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Customers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Industry</a:t>
            </a:r>
            <a:endParaRPr sz="2250" b="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4E5CE-686C-0C76-8774-26A477273BC0}"/>
              </a:ext>
            </a:extLst>
          </p:cNvPr>
          <p:cNvSpPr>
            <a:spLocks noGrp="1"/>
          </p:cNvSpPr>
          <p:nvPr/>
        </p:nvSpPr>
        <p:spPr>
          <a:xfrm>
            <a:off x="609600" y="5517801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875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3</a:t>
            </a:r>
            <a:endParaRPr sz="1875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056AE9-38F5-C833-86DF-5C0E931BDD32}"/>
              </a:ext>
            </a:extLst>
          </p:cNvPr>
          <p:cNvSpPr>
            <a:spLocks noGrp="1"/>
          </p:cNvSpPr>
          <p:nvPr/>
        </p:nvSpPr>
        <p:spPr>
          <a:xfrm>
            <a:off x="1524000" y="5517801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225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Opportunity intelligence</a:t>
            </a:r>
            <a:endParaRPr sz="2250" b="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897A5-1A2E-625D-0468-3AB0D53415DD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E93553-7A6C-F6E2-A3C5-B4FA9C3F0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34" y="2091747"/>
            <a:ext cx="6557364" cy="36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2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F687A2-3A1B-4B67-985B-B8E57D5AE64F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B46"/>
                </a:solidFill>
                <a:latin typeface="Arial"/>
                <a:ea typeface="Arial"/>
                <a:cs typeface="Arial"/>
              </a:rPr>
              <a:t>Security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8F6C10-8AAD-4855-8D37-0B7FBD48349C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Strong passwords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F5233-BDD2-4F0C-8B1D-F3BA86D23143}"/>
              </a:ext>
            </a:extLst>
          </p:cNvPr>
          <p:cNvSpPr>
            <a:spLocks noGrp="1"/>
          </p:cNvSpPr>
          <p:nvPr/>
        </p:nvSpPr>
        <p:spPr>
          <a:xfrm>
            <a:off x="643114" y="2000780"/>
            <a:ext cx="4086578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Require strong passwords for user accounts.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0239CA-5151-4DE7-AF09-EC7B3FCCEFA7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Session inactivity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56B6B1-E15D-4516-97E7-ED383DBA67D7}"/>
              </a:ext>
            </a:extLst>
          </p:cNvPr>
          <p:cNvSpPr>
            <a:spLocks noGrp="1"/>
          </p:cNvSpPr>
          <p:nvPr/>
        </p:nvSpPr>
        <p:spPr>
          <a:xfrm>
            <a:off x="638881" y="2895600"/>
            <a:ext cx="4086578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End user sessions after 15 minutes of inactivity.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3F6E5D-0BF1-4EC2-AC99-4F7F59A71D34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New account credentials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E23C00-C556-42B9-82E4-7141562D4F35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4086578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Generate and send the username and password in two separate emails.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1C6B5-4290-42EA-8587-3B8EFDEBF92F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Password changes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97A48-F27B-4FBD-B775-EFF0CF2524F0}"/>
              </a:ext>
            </a:extLst>
          </p:cNvPr>
          <p:cNvSpPr>
            <a:spLocks noGrp="1"/>
          </p:cNvSpPr>
          <p:nvPr/>
        </p:nvSpPr>
        <p:spPr>
          <a:xfrm>
            <a:off x="638881" y="4686300"/>
            <a:ext cx="4086578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Allow users to change their passwords.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D6FE2B-654C-44BB-8915-827B5075DD60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Account controls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A989B-690D-45EF-A635-39D9746E6AFC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4086578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Allow administrators to disable accounts.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8E3DFF-76C6-0ECC-126C-913B0B58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123" y="1732677"/>
            <a:ext cx="6599277" cy="37069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C62EB40-2700-4030-1B9B-E5AA34509BF3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49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C764-B228-3987-1FC5-4FB0F5D0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440463D-7CAA-C9DA-F38A-E5908824FD3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How to use</a:t>
            </a:r>
            <a:endParaRPr sz="3600" b="1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0C0FF-DC95-9B7C-902C-E26C0D2E64E4}"/>
              </a:ext>
            </a:extLst>
          </p:cNvPr>
          <p:cNvSpPr>
            <a:spLocks noGrp="1"/>
          </p:cNvSpPr>
          <p:nvPr/>
        </p:nvSpPr>
        <p:spPr>
          <a:xfrm>
            <a:off x="609599" y="1666875"/>
            <a:ext cx="9279467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>
              <a:buFont typeface="Arial" panose="020B0604020202020204" pitchFamily="34" charset="0"/>
              <a:buChar char="•"/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endParaRPr sz="21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CE144-59E2-DD84-828B-C57967DC74F6}"/>
              </a:ext>
            </a:extLst>
          </p:cNvPr>
          <p:cNvSpPr>
            <a:spLocks noGrp="1"/>
          </p:cNvSpPr>
          <p:nvPr/>
        </p:nvSpPr>
        <p:spPr>
          <a:xfrm>
            <a:off x="643113" y="2000780"/>
            <a:ext cx="8308975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Setup the SMTP env variables by updating the file </a:t>
            </a:r>
            <a:r>
              <a:rPr lang="en-US" sz="14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400" b="1" dirty="0" err="1">
                <a:solidFill>
                  <a:srgbClr val="122B46"/>
                </a:solidFill>
                <a:latin typeface="Arial"/>
                <a:ea typeface="Arial"/>
                <a:cs typeface="Arial"/>
              </a:rPr>
              <a:t>env.smtp</a:t>
            </a:r>
            <a:endParaRPr lang="en-US" sz="1400" b="1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b="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14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Mavens</a:t>
            </a:r>
            <a:r>
              <a:rPr lang="en-US"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 login with password </a:t>
            </a:r>
            <a:r>
              <a:rPr lang="en-US" sz="1400" b="1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abcd12345678</a:t>
            </a:r>
            <a:r>
              <a:rPr lang="en-US" sz="1400" b="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 to login as a Company Administrator</a:t>
            </a:r>
          </a:p>
          <a:p>
            <a:pPr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You can create Salesperson, Executive, Company Administrator users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Use the Salesperson user that you created to upload your pipeline data. Recommend creating two users with the Salesperson role. Login using this user and try out the features.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Use the Executive user that you created to visualize pipeline from the two Salesperson users that you created.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122B46"/>
                </a:solidFill>
                <a:latin typeface="Arial"/>
                <a:ea typeface="Arial"/>
                <a:cs typeface="Arial"/>
              </a:rPr>
              <a:t>Test out the security features. Login as the Company Administrator and try out the options.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75" b="0">
                <a:solidFill>
                  <a:srgbClr val="122B46"/>
                </a:solidFill>
                <a:latin typeface="Arial"/>
                <a:ea typeface="Arial"/>
                <a:cs typeface="Arial"/>
              </a:defRPr>
            </a:pPr>
            <a:endParaRPr sz="1400" b="0" dirty="0">
              <a:solidFill>
                <a:srgbClr val="12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EDBCD-9F26-B069-EEF2-D69FC55C66A6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46596E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46596E"/>
                </a:solidFill>
                <a:latin typeface="Arial"/>
                <a:ea typeface="Arial"/>
                <a:cs typeface="Arial"/>
              </a:rPr>
              <a:t>Designed by Amit Gandre</a:t>
            </a:r>
            <a:endParaRPr sz="1000" b="1" dirty="0">
              <a:solidFill>
                <a:srgbClr val="4659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AD3E6D-1302-47B2-ACA1-8F920960EFA8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104775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147059-04CE-4220-89AB-E9AE5E0C4368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4592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312</Words>
  <Application>Microsoft Macintosh PowerPoint</Application>
  <DocSecurity>0</DocSecurity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Swapna Gandre</cp:lastModifiedBy>
  <cp:revision>7</cp:revision>
  <dcterms:created xsi:type="dcterms:W3CDTF">2026-10-10T15:42:20Z</dcterms:created>
  <dcterms:modified xsi:type="dcterms:W3CDTF">2026-10-10T17:01:46Z</dcterms:modified>
</cp:coreProperties>
</file>